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1" r:id="rId4"/>
    <p:sldId id="258" r:id="rId5"/>
    <p:sldId id="259" r:id="rId6"/>
    <p:sldId id="260" r:id="rId7"/>
    <p:sldId id="272" r:id="rId8"/>
    <p:sldId id="261" r:id="rId9"/>
    <p:sldId id="262" r:id="rId10"/>
    <p:sldId id="270" r:id="rId11"/>
    <p:sldId id="275" r:id="rId12"/>
    <p:sldId id="263" r:id="rId13"/>
    <p:sldId id="273" r:id="rId14"/>
    <p:sldId id="274" r:id="rId15"/>
    <p:sldId id="276" r:id="rId16"/>
    <p:sldId id="264" r:id="rId17"/>
    <p:sldId id="265" r:id="rId18"/>
    <p:sldId id="266" r:id="rId19"/>
    <p:sldId id="267" r:id="rId20"/>
    <p:sldId id="268" r:id="rId21"/>
    <p:sldId id="269" r:id="rId22"/>
  </p:sldIdLst>
  <p:sldSz cx="18288000" cy="10287000"/>
  <p:notesSz cx="6858000" cy="9144000"/>
  <p:embeddedFontLst>
    <p:embeddedFont>
      <p:font typeface="Bricolage Grotesque" panose="020B0604020202020204" charset="0"/>
      <p:bold r:id="rId24"/>
    </p:embeddedFont>
    <p:embeddedFont>
      <p:font typeface="Bricolage Grotesque SemiBold" panose="020B0604020202020204" charset="0"/>
      <p:regular r:id="rId25"/>
      <p:bold r:id="rId26"/>
    </p:embeddedFont>
    <p:embeddedFont>
      <p:font typeface="Times" panose="02020603050405020304" pitchFamily="18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0889EDEB-01E5-C2E8-5E55-E8F37973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B66468B0-2914-6659-2889-3C07275E1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4567301E-BD33-7FB6-11A1-5C02820EF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093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A8CE30D4-FC4C-6379-8B3F-25953DD6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>
            <a:extLst>
              <a:ext uri="{FF2B5EF4-FFF2-40B4-BE49-F238E27FC236}">
                <a16:creationId xmlns:a16="http://schemas.microsoft.com/office/drawing/2014/main" id="{991D9978-CDD0-A9DB-9540-F2E804683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>
            <a:extLst>
              <a:ext uri="{FF2B5EF4-FFF2-40B4-BE49-F238E27FC236}">
                <a16:creationId xmlns:a16="http://schemas.microsoft.com/office/drawing/2014/main" id="{518458DE-72F7-1EFF-2468-E3BD138C0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9471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3D464F0F-833C-97AD-A309-E88B25966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6F03DB97-0C4E-8F55-57FC-070BD11FE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D1416F29-9535-FD7A-04BD-E5FE608C6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4750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45472381-7178-9C36-595F-DA552FC9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A5BC5E50-67FD-4CB9-AAD6-5880A804C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5FE425EB-9C7D-B35D-C22F-73ACBEA2E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1918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FF0C0BCD-D473-754D-CB7B-F8CD1FCF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32DC782F-AB4F-6D86-C36B-3A9ABFFC9F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106DEE5D-E664-1046-9970-AE9A2F65C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7240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B2C426F0-1370-CA7B-8A8E-F1F46DFB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8451A32A-5BC9-8E98-F33F-AC7A7DED1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043F02F5-7A7D-9740-5158-9651C671F3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0494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5DDF6CEF-E312-E1D3-5446-3B9F6DB5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F63D0FF3-55D3-50B3-A6CE-32AAC1F1E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E36FD989-C254-0667-A39A-FD624539AB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8175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12768943" y="3086100"/>
            <a:ext cx="4490357" cy="4114800"/>
          </a:xfrm>
          <a:custGeom>
            <a:avLst/>
            <a:gdLst/>
            <a:ahLst/>
            <a:cxnLst/>
            <a:rect l="l" t="t" r="r" b="b"/>
            <a:pathLst>
              <a:path w="4490357" h="4114800" extrusionOk="0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22D66-23FD-7A8F-B059-5F8640D73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639" cy="10286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B30592-DE6B-F7F3-931E-3B6ABAE64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1760" y="7251555"/>
            <a:ext cx="3481118" cy="45784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9488101" y="6795372"/>
            <a:ext cx="4010025" cy="730020"/>
            <a:chOff x="0" y="0"/>
            <a:chExt cx="5346700" cy="973360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0"/>
              <a:ext cx="5346700" cy="969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i="0" u="none" strike="noStrike" cap="none" dirty="0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React.js: The User Interface Library</a:t>
              </a:r>
              <a:endParaRPr dirty="0"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628651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85177" y="6746441"/>
            <a:ext cx="4010025" cy="1562365"/>
            <a:chOff x="0" y="0"/>
            <a:chExt cx="5346700" cy="2083151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0"/>
              <a:ext cx="5346700" cy="4848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dirty="0">
                  <a:solidFill>
                    <a:srgbClr val="D2EEFF"/>
                  </a:solidFill>
                  <a:latin typeface="Bricolage Grotesque"/>
                  <a:sym typeface="Bricolage Grotesque"/>
                </a:rPr>
                <a:t>PostgreSQL: The Database</a:t>
              </a:r>
              <a:endParaRPr dirty="0"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628651"/>
              <a:ext cx="5346700" cy="145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dirty="0">
                  <a:solidFill>
                    <a:srgbClr val="FDFFF8"/>
                  </a:solidFill>
                </a:rPr>
                <a:t>PostgreSQL stock, expiry, batch and inventory-related data in a structured and reliable database.</a:t>
              </a:r>
              <a:endParaRPr dirty="0"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384602" y="6746441"/>
            <a:ext cx="4107676" cy="2289614"/>
            <a:chOff x="0" y="0"/>
            <a:chExt cx="5476901" cy="3052821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0" y="0"/>
              <a:ext cx="5476901" cy="969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dirty="0">
                  <a:solidFill>
                    <a:srgbClr val="D2EEFF"/>
                  </a:solidFill>
                  <a:latin typeface="Bricolage Grotesque"/>
                  <a:sym typeface="Bricolage Grotesque"/>
                </a:rPr>
                <a:t>Spring Boot: The Backend Framework</a:t>
              </a:r>
              <a:endParaRPr dirty="0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628651"/>
              <a:ext cx="5346700" cy="2424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969" dirty="0">
                <a:solidFill>
                  <a:srgbClr val="FDFFF8"/>
                </a:solidFill>
              </a:endParaRPr>
            </a:p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dirty="0">
                  <a:solidFill>
                    <a:srgbClr val="FDFFF8"/>
                  </a:solidFill>
                </a:rPr>
                <a:t>Spring Boot </a:t>
              </a:r>
              <a:r>
                <a:rPr lang="en-US" sz="1969" dirty="0" err="1">
                  <a:solidFill>
                    <a:srgbClr val="FDFFF8"/>
                  </a:solidFill>
                </a:rPr>
                <a:t>p;rovides</a:t>
              </a:r>
              <a:r>
                <a:rPr lang="en-US" sz="1969" dirty="0">
                  <a:solidFill>
                    <a:srgbClr val="FDFFF8"/>
                  </a:solidFill>
                </a:rPr>
                <a:t> the backend services and REST APIs for inventory </a:t>
              </a:r>
              <a:r>
                <a:rPr lang="en-US" sz="1969" dirty="0" err="1">
                  <a:solidFill>
                    <a:srgbClr val="FDFFF8"/>
                  </a:solidFill>
                </a:rPr>
                <a:t>management,epiry</a:t>
              </a:r>
              <a:r>
                <a:rPr lang="en-US" sz="1969" dirty="0">
                  <a:solidFill>
                    <a:srgbClr val="FDFFF8"/>
                  </a:solidFill>
                </a:rPr>
                <a:t> </a:t>
              </a:r>
              <a:r>
                <a:rPr lang="en-US" sz="1969" dirty="0" err="1">
                  <a:solidFill>
                    <a:srgbClr val="FDFFF8"/>
                  </a:solidFill>
                </a:rPr>
                <a:t>tracking,stock</a:t>
              </a:r>
              <a:r>
                <a:rPr lang="en-US" sz="1969" dirty="0">
                  <a:solidFill>
                    <a:srgbClr val="FDFFF8"/>
                  </a:solidFill>
                </a:rPr>
                <a:t> alerts and reporting.</a:t>
              </a:r>
              <a:endParaRPr dirty="0"/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215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Stack: </a:t>
            </a:r>
            <a:r>
              <a:rPr lang="en-US" sz="6999" b="0" i="0" u="none" strike="noStrike" cap="none" dirty="0" err="1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Medi</a:t>
            </a:r>
            <a:r>
              <a:rPr lang="en-US" sz="6999" dirty="0" err="1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US" sz="6999" b="0" i="0" u="none" strike="noStrike" cap="none" dirty="0" err="1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tock</a:t>
            </a:r>
            <a:r>
              <a:rPr lang="en-US" sz="6999" b="0" i="0" u="none" strike="noStrike" cap="none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 Framework Explained</a:t>
            </a:r>
            <a:endParaRPr dirty="0"/>
          </a:p>
        </p:txBody>
      </p:sp>
      <p:sp>
        <p:nvSpPr>
          <p:cNvPr id="113" name="Google Shape;113;p2"/>
          <p:cNvSpPr/>
          <p:nvPr/>
        </p:nvSpPr>
        <p:spPr>
          <a:xfrm>
            <a:off x="9369295" y="3344455"/>
            <a:ext cx="4121362" cy="2709147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7570" y="0"/>
                </a:moveTo>
                <a:lnTo>
                  <a:pt x="1593519" y="0"/>
                </a:lnTo>
                <a:cubicBezTo>
                  <a:pt x="1614268" y="0"/>
                  <a:pt x="1631088" y="16821"/>
                  <a:pt x="1631088" y="37570"/>
                </a:cubicBezTo>
                <a:lnTo>
                  <a:pt x="1631088" y="1034614"/>
                </a:lnTo>
                <a:cubicBezTo>
                  <a:pt x="1631088" y="1044578"/>
                  <a:pt x="1627130" y="1054134"/>
                  <a:pt x="1620085" y="1061180"/>
                </a:cubicBezTo>
                <a:cubicBezTo>
                  <a:pt x="1613039" y="1068226"/>
                  <a:pt x="1603483" y="1072184"/>
                  <a:pt x="1593519" y="1072184"/>
                </a:cubicBezTo>
                <a:lnTo>
                  <a:pt x="37570" y="1072184"/>
                </a:lnTo>
                <a:cubicBezTo>
                  <a:pt x="27606" y="1072184"/>
                  <a:pt x="18050" y="1068226"/>
                  <a:pt x="11004" y="1061180"/>
                </a:cubicBezTo>
                <a:cubicBezTo>
                  <a:pt x="3958" y="1054134"/>
                  <a:pt x="0" y="1044578"/>
                  <a:pt x="0" y="1034614"/>
                </a:cubicBezTo>
                <a:lnTo>
                  <a:pt x="0" y="37570"/>
                </a:lnTo>
                <a:cubicBezTo>
                  <a:pt x="0" y="27606"/>
                  <a:pt x="3958" y="18050"/>
                  <a:pt x="11004" y="11004"/>
                </a:cubicBezTo>
                <a:cubicBezTo>
                  <a:pt x="18050" y="3958"/>
                  <a:pt x="27606" y="0"/>
                  <a:pt x="3757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4085713" y="6746441"/>
            <a:ext cx="4010025" cy="2221266"/>
            <a:chOff x="0" y="0"/>
            <a:chExt cx="5346700" cy="2961687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0" y="0"/>
              <a:ext cx="5346700" cy="969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dirty="0">
                  <a:solidFill>
                    <a:srgbClr val="D2EEFF"/>
                  </a:solidFill>
                  <a:latin typeface="Bricolage Grotesque"/>
                  <a:sym typeface="Bricolage Grotesque"/>
                </a:rPr>
                <a:t>Security: Authentication &amp; Access Control</a:t>
              </a:r>
              <a:endParaRPr dirty="0"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1022353"/>
              <a:ext cx="5346700" cy="19393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dirty="0">
                  <a:solidFill>
                    <a:srgbClr val="FDFFF8"/>
                  </a:solidFill>
                </a:rPr>
                <a:t>Spring Security with JWT/OAuth2 helps secure the application, authenticate users and protect backend APIs.</a:t>
              </a:r>
              <a:endParaRPr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617AC4F-6F5B-4855-C9D9-F6678BE5D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45" y="3289159"/>
            <a:ext cx="3880882" cy="2596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7838A-6D2C-888E-2584-7C9E50C90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4818" y="3358005"/>
            <a:ext cx="4032772" cy="2658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97B3C1-56EF-78C5-1268-F587C92CEE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2363" y="3358005"/>
            <a:ext cx="3882974" cy="2695597"/>
          </a:xfrm>
          <a:prstGeom prst="rect">
            <a:avLst/>
          </a:prstGeom>
        </p:spPr>
      </p:pic>
      <p:sp>
        <p:nvSpPr>
          <p:cNvPr id="9" name="Google Shape;103;p2">
            <a:extLst>
              <a:ext uri="{FF2B5EF4-FFF2-40B4-BE49-F238E27FC236}">
                <a16:creationId xmlns:a16="http://schemas.microsoft.com/office/drawing/2014/main" id="{6D9EFB4D-5D6C-D06B-64AF-38443938BF5F}"/>
              </a:ext>
            </a:extLst>
          </p:cNvPr>
          <p:cNvSpPr txBox="1"/>
          <p:nvPr/>
        </p:nvSpPr>
        <p:spPr>
          <a:xfrm>
            <a:off x="9488101" y="7266860"/>
            <a:ext cx="4010025" cy="181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69" b="0" i="0" u="none" strike="noStrike" cap="none" dirty="0">
              <a:solidFill>
                <a:srgbClr val="FDFFF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9" b="0" i="0" u="none" strike="noStrike" cap="none" dirty="0">
                <a:solidFill>
                  <a:srgbClr val="FDFFF8"/>
                </a:solidFill>
                <a:latin typeface="Arial"/>
                <a:ea typeface="Arial"/>
                <a:cs typeface="Arial"/>
                <a:sym typeface="Arial"/>
              </a:rPr>
              <a:t>React.js is used to built the interactive frontend of </a:t>
            </a:r>
            <a:r>
              <a:rPr lang="en-US" sz="1969" b="0" i="0" u="none" strike="noStrike" cap="none" dirty="0" err="1">
                <a:solidFill>
                  <a:srgbClr val="FDFFF8"/>
                </a:solidFill>
                <a:latin typeface="Arial"/>
                <a:ea typeface="Arial"/>
                <a:cs typeface="Arial"/>
                <a:sym typeface="Arial"/>
              </a:rPr>
              <a:t>MediStock</a:t>
            </a:r>
            <a:r>
              <a:rPr lang="en-US" sz="1969" b="0" i="0" u="none" strike="noStrike" cap="none" dirty="0">
                <a:solidFill>
                  <a:srgbClr val="FDFFF8"/>
                </a:solidFill>
                <a:latin typeface="Arial"/>
                <a:ea typeface="Arial"/>
                <a:cs typeface="Arial"/>
                <a:sym typeface="Arial"/>
              </a:rPr>
              <a:t>, including the dashboard, inventory views, alerts and report interfaces.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448D8B6B-B399-30DC-5D5B-6502ADA03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>
            <a:extLst>
              <a:ext uri="{FF2B5EF4-FFF2-40B4-BE49-F238E27FC236}">
                <a16:creationId xmlns:a16="http://schemas.microsoft.com/office/drawing/2014/main" id="{E9B377CC-EDB7-4847-E786-3946F29B6AF4}"/>
              </a:ext>
            </a:extLst>
          </p:cNvPr>
          <p:cNvSpPr txBox="1"/>
          <p:nvPr/>
        </p:nvSpPr>
        <p:spPr>
          <a:xfrm>
            <a:off x="9474686" y="5430838"/>
            <a:ext cx="8273075" cy="38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4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Inventory Analytics Made Easy</a:t>
            </a:r>
            <a:endParaRPr dirty="0"/>
          </a:p>
        </p:txBody>
      </p:sp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3189D80A-CB04-399A-AFFA-B2D351EDFC18}"/>
              </a:ext>
            </a:extLst>
          </p:cNvPr>
          <p:cNvSpPr txBox="1"/>
          <p:nvPr/>
        </p:nvSpPr>
        <p:spPr>
          <a:xfrm>
            <a:off x="2409669" y="5430838"/>
            <a:ext cx="4010025" cy="38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4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Stock Alerts Made Easy</a:t>
            </a:r>
            <a:endParaRPr dirty="0"/>
          </a:p>
        </p:txBody>
      </p:sp>
      <p:sp>
        <p:nvSpPr>
          <p:cNvPr id="133" name="Google Shape;133;p3">
            <a:extLst>
              <a:ext uri="{FF2B5EF4-FFF2-40B4-BE49-F238E27FC236}">
                <a16:creationId xmlns:a16="http://schemas.microsoft.com/office/drawing/2014/main" id="{E78A9EA1-B829-1FFE-795D-95355C7C58D4}"/>
              </a:ext>
            </a:extLst>
          </p:cNvPr>
          <p:cNvSpPr txBox="1"/>
          <p:nvPr/>
        </p:nvSpPr>
        <p:spPr>
          <a:xfrm>
            <a:off x="12492651" y="9367540"/>
            <a:ext cx="4010025" cy="38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4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Notifications</a:t>
            </a:r>
            <a:endParaRPr dirty="0"/>
          </a:p>
        </p:txBody>
      </p:sp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1EDF11D6-DA1F-676F-E86C-164C48ED5955}"/>
              </a:ext>
            </a:extLst>
          </p:cNvPr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 of </a:t>
            </a:r>
            <a:r>
              <a:rPr lang="en-US" sz="6999" b="1" i="0" u="none" strike="noStrike" cap="none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Medi</a:t>
            </a:r>
            <a:r>
              <a:rPr lang="en-US" sz="6999" b="1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</a:t>
            </a:r>
            <a:r>
              <a:rPr lang="en-US" sz="6999" b="1" i="0" u="none" strike="noStrike" cap="none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tock</a:t>
            </a: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Platform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BD2AA-560B-CBF8-CCF9-824B3814F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37" y="6012639"/>
            <a:ext cx="6789601" cy="29259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42EB19-64D1-F351-EB27-185BC3D2B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7616" y="2075937"/>
            <a:ext cx="6695566" cy="31561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963A50-969A-D4A8-0237-DD3C212BF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337" y="2116981"/>
            <a:ext cx="6789601" cy="3115110"/>
          </a:xfrm>
          <a:prstGeom prst="rect">
            <a:avLst/>
          </a:prstGeom>
        </p:spPr>
      </p:pic>
      <p:sp>
        <p:nvSpPr>
          <p:cNvPr id="6" name="Google Shape;133;p3">
            <a:extLst>
              <a:ext uri="{FF2B5EF4-FFF2-40B4-BE49-F238E27FC236}">
                <a16:creationId xmlns:a16="http://schemas.microsoft.com/office/drawing/2014/main" id="{276BE112-71CB-DB6D-0749-4F7F0B6901CC}"/>
              </a:ext>
            </a:extLst>
          </p:cNvPr>
          <p:cNvSpPr txBox="1"/>
          <p:nvPr/>
        </p:nvSpPr>
        <p:spPr>
          <a:xfrm>
            <a:off x="2409670" y="9367540"/>
            <a:ext cx="4010025" cy="38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4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Expiry Monitoring Made Easy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6EBC2B-8DE4-4D97-3C4D-1C6512D78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3736" y="5976003"/>
            <a:ext cx="6689445" cy="296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0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/>
        </p:nvSpPr>
        <p:spPr>
          <a:xfrm>
            <a:off x="9474686" y="5272440"/>
            <a:ext cx="8273075" cy="38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4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Dashboard &amp; Analytics</a:t>
            </a:r>
            <a:endParaRPr dirty="0"/>
          </a:p>
        </p:txBody>
      </p:sp>
      <p:grpSp>
        <p:nvGrpSpPr>
          <p:cNvPr id="129" name="Google Shape;129;p3"/>
          <p:cNvGrpSpPr/>
          <p:nvPr/>
        </p:nvGrpSpPr>
        <p:grpSpPr>
          <a:xfrm>
            <a:off x="958646" y="5185568"/>
            <a:ext cx="9144000" cy="873593"/>
            <a:chOff x="0" y="0"/>
            <a:chExt cx="10658529" cy="1164791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0" y="0"/>
              <a:ext cx="8003820" cy="5107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User Authentication &amp; Role-Based Access</a:t>
              </a:r>
              <a:endParaRPr dirty="0"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654052"/>
              <a:ext cx="10658529" cy="5107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dirty="0">
                  <a:solidFill>
                    <a:srgbClr val="B0AFD3"/>
                  </a:solidFill>
                </a:rPr>
                <a:t> </a:t>
              </a:r>
              <a:endParaRPr dirty="0"/>
            </a:p>
          </p:txBody>
        </p:sp>
      </p:grpSp>
      <p:sp>
        <p:nvSpPr>
          <p:cNvPr id="133" name="Google Shape;133;p3"/>
          <p:cNvSpPr txBox="1"/>
          <p:nvPr/>
        </p:nvSpPr>
        <p:spPr>
          <a:xfrm>
            <a:off x="11366861" y="9367539"/>
            <a:ext cx="4010025" cy="38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4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Purchase Management</a:t>
            </a:r>
            <a:endParaRPr dirty="0"/>
          </a:p>
        </p:txBody>
      </p:sp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 of </a:t>
            </a:r>
            <a:r>
              <a:rPr lang="en-US" sz="6999" b="1" i="0" u="none" strike="noStrike" cap="none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Medi</a:t>
            </a:r>
            <a:r>
              <a:rPr lang="en-US" sz="6999" b="1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</a:t>
            </a:r>
            <a:r>
              <a:rPr lang="en-US" sz="6999" b="1" i="0" u="none" strike="noStrike" cap="none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tock</a:t>
            </a: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Platform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27774C-76CD-7528-08C3-9F2E9E67B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603" y="1877190"/>
            <a:ext cx="6538558" cy="30044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701418-9214-147F-1A0F-BA0C5E9B4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4686" y="1898078"/>
            <a:ext cx="7427434" cy="30044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37B94F-FE13-76BF-8F55-4CA195350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602" y="6079774"/>
            <a:ext cx="6538559" cy="2866557"/>
          </a:xfrm>
          <a:prstGeom prst="rect">
            <a:avLst/>
          </a:prstGeom>
        </p:spPr>
      </p:pic>
      <p:sp>
        <p:nvSpPr>
          <p:cNvPr id="20" name="Google Shape;133;p3">
            <a:extLst>
              <a:ext uri="{FF2B5EF4-FFF2-40B4-BE49-F238E27FC236}">
                <a16:creationId xmlns:a16="http://schemas.microsoft.com/office/drawing/2014/main" id="{D69F786C-31EC-AA93-5F1A-144951852F25}"/>
              </a:ext>
            </a:extLst>
          </p:cNvPr>
          <p:cNvSpPr txBox="1"/>
          <p:nvPr/>
        </p:nvSpPr>
        <p:spPr>
          <a:xfrm>
            <a:off x="1937721" y="9367539"/>
            <a:ext cx="4010025" cy="38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4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Reports</a:t>
            </a:r>
            <a:endParaRPr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E849270-C5C3-7C3F-D960-E2F1D3438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686" y="6079774"/>
            <a:ext cx="7427434" cy="2866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513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Facing Medical Inventory Management</a:t>
            </a:r>
            <a:endParaRPr dirty="0"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6386939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074" y="6365776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12872519" y="2288105"/>
            <a:ext cx="4748625" cy="1372585"/>
            <a:chOff x="0" y="0"/>
            <a:chExt cx="6331500" cy="1830111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0" y="0"/>
              <a:ext cx="6331500" cy="587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Medicine Expiry Risk</a:t>
              </a:r>
              <a:endParaRPr dirty="0"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727075"/>
              <a:ext cx="6331500" cy="1103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dirty="0">
                  <a:solidFill>
                    <a:srgbClr val="B0AFD3"/>
                  </a:solidFill>
                </a:rPr>
                <a:t>Risk of medicines getting expired without timely identification.</a:t>
              </a:r>
              <a:endParaRPr dirty="0"/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7858075" y="2288100"/>
            <a:ext cx="4748675" cy="1433200"/>
            <a:chOff x="-67" y="-225800"/>
            <a:chExt cx="6331567" cy="1910934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-67" y="-225800"/>
              <a:ext cx="6331500" cy="587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Manual </a:t>
              </a:r>
              <a:r>
                <a:rPr lang="en-US" sz="2387" b="1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Inventory Management</a:t>
              </a:r>
              <a:endParaRPr dirty="0"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582096"/>
              <a:ext cx="6331500" cy="1103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dirty="0">
                  <a:solidFill>
                    <a:srgbClr val="B0AFD3"/>
                  </a:solidFill>
                </a:rPr>
                <a:t>Difficult in maintaining accurate medicine stock records.</a:t>
              </a:r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7858074" y="4652702"/>
            <a:ext cx="4748625" cy="1372584"/>
            <a:chOff x="0" y="0"/>
            <a:chExt cx="6331500" cy="1830111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0" y="0"/>
              <a:ext cx="6331500" cy="587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Low-Stock Detection</a:t>
              </a:r>
              <a:endParaRPr dirty="0"/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0" y="727075"/>
              <a:ext cx="6331500" cy="1103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dirty="0">
                  <a:solidFill>
                    <a:srgbClr val="B0AFD3"/>
                  </a:solidFill>
                </a:rPr>
                <a:t>Difficult in identifying medicines that are running low or out of stock</a:t>
              </a:r>
              <a:endParaRPr dirty="0"/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12861754" y="4654385"/>
            <a:ext cx="5987708" cy="1437439"/>
            <a:chOff x="347967" y="-86473"/>
            <a:chExt cx="7983610" cy="1916584"/>
          </a:xfrm>
        </p:grpSpPr>
        <p:sp>
          <p:nvSpPr>
            <p:cNvPr id="166" name="Google Shape;166;p4"/>
            <p:cNvSpPr txBox="1"/>
            <p:nvPr/>
          </p:nvSpPr>
          <p:spPr>
            <a:xfrm>
              <a:off x="347978" y="-86473"/>
              <a:ext cx="7983599" cy="587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Inventory Visibility</a:t>
              </a:r>
              <a:endParaRPr dirty="0"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347967" y="727074"/>
              <a:ext cx="6331499" cy="11030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dirty="0">
                  <a:solidFill>
                    <a:srgbClr val="B0AFD3"/>
                  </a:solidFill>
                </a:rPr>
                <a:t>Difficult in getting a centralized view of stock, purchases and inventory activities.</a:t>
              </a:r>
              <a:endParaRPr dirty="0"/>
            </a:p>
          </p:txBody>
        </p:sp>
      </p:grp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96270" y="6408101"/>
            <a:ext cx="199377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6</a:t>
            </a:r>
            <a:endParaRPr dirty="0"/>
          </a:p>
        </p:txBody>
      </p:sp>
      <p:sp>
        <p:nvSpPr>
          <p:cNvPr id="176" name="Google Shape;176;p4"/>
          <p:cNvSpPr txBox="1"/>
          <p:nvPr/>
        </p:nvSpPr>
        <p:spPr>
          <a:xfrm>
            <a:off x="8128709" y="6364083"/>
            <a:ext cx="260376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5</a:t>
            </a:r>
            <a:endParaRPr dirty="0"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grpSp>
        <p:nvGrpSpPr>
          <p:cNvPr id="2" name="Google Shape;150;p4">
            <a:extLst>
              <a:ext uri="{FF2B5EF4-FFF2-40B4-BE49-F238E27FC236}">
                <a16:creationId xmlns:a16="http://schemas.microsoft.com/office/drawing/2014/main" id="{F6226859-0316-9F00-0843-B06BC38BBFC2}"/>
              </a:ext>
            </a:extLst>
          </p:cNvPr>
          <p:cNvGrpSpPr/>
          <p:nvPr/>
        </p:nvGrpSpPr>
        <p:grpSpPr>
          <a:xfrm>
            <a:off x="7858467" y="4147349"/>
            <a:ext cx="854762" cy="415636"/>
            <a:chOff x="0" y="-38100"/>
            <a:chExt cx="769424" cy="374139"/>
          </a:xfrm>
        </p:grpSpPr>
        <p:sp>
          <p:nvSpPr>
            <p:cNvPr id="3" name="Google Shape;151;p4">
              <a:extLst>
                <a:ext uri="{FF2B5EF4-FFF2-40B4-BE49-F238E27FC236}">
                  <a16:creationId xmlns:a16="http://schemas.microsoft.com/office/drawing/2014/main" id="{DC37BF35-8AE9-60B0-FFE4-946FADFE5F56}"/>
                </a:ext>
              </a:extLst>
            </p:cNvPr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2;p4">
              <a:extLst>
                <a:ext uri="{FF2B5EF4-FFF2-40B4-BE49-F238E27FC236}">
                  <a16:creationId xmlns:a16="http://schemas.microsoft.com/office/drawing/2014/main" id="{1F31AC04-52B9-BBDC-F3ED-3C375B97D19D}"/>
                </a:ext>
              </a:extLst>
            </p:cNvPr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150;p4">
            <a:extLst>
              <a:ext uri="{FF2B5EF4-FFF2-40B4-BE49-F238E27FC236}">
                <a16:creationId xmlns:a16="http://schemas.microsoft.com/office/drawing/2014/main" id="{ADEF4801-5D9D-09ED-1590-502C22C59696}"/>
              </a:ext>
            </a:extLst>
          </p:cNvPr>
          <p:cNvGrpSpPr/>
          <p:nvPr/>
        </p:nvGrpSpPr>
        <p:grpSpPr>
          <a:xfrm>
            <a:off x="12861754" y="4002491"/>
            <a:ext cx="854762" cy="415636"/>
            <a:chOff x="0" y="-38100"/>
            <a:chExt cx="769424" cy="374139"/>
          </a:xfrm>
        </p:grpSpPr>
        <p:sp>
          <p:nvSpPr>
            <p:cNvPr id="6" name="Google Shape;151;p4">
              <a:extLst>
                <a:ext uri="{FF2B5EF4-FFF2-40B4-BE49-F238E27FC236}">
                  <a16:creationId xmlns:a16="http://schemas.microsoft.com/office/drawing/2014/main" id="{2D878B0A-4B6E-6EFF-7F8B-67B715CDCE40}"/>
                </a:ext>
              </a:extLst>
            </p:cNvPr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2;p4">
              <a:extLst>
                <a:ext uri="{FF2B5EF4-FFF2-40B4-BE49-F238E27FC236}">
                  <a16:creationId xmlns:a16="http://schemas.microsoft.com/office/drawing/2014/main" id="{B50569CE-5218-D88D-0F20-9484B67A2997}"/>
                </a:ext>
              </a:extLst>
            </p:cNvPr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76;p4">
            <a:extLst>
              <a:ext uri="{FF2B5EF4-FFF2-40B4-BE49-F238E27FC236}">
                <a16:creationId xmlns:a16="http://schemas.microsoft.com/office/drawing/2014/main" id="{8B876525-A51B-1ADF-9F15-3079BCA5CC63}"/>
              </a:ext>
            </a:extLst>
          </p:cNvPr>
          <p:cNvSpPr txBox="1"/>
          <p:nvPr/>
        </p:nvSpPr>
        <p:spPr>
          <a:xfrm>
            <a:off x="8128709" y="4111013"/>
            <a:ext cx="314276" cy="49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dirty="0"/>
          </a:p>
        </p:txBody>
      </p:sp>
      <p:sp>
        <p:nvSpPr>
          <p:cNvPr id="14" name="Google Shape;175;p4">
            <a:extLst>
              <a:ext uri="{FF2B5EF4-FFF2-40B4-BE49-F238E27FC236}">
                <a16:creationId xmlns:a16="http://schemas.microsoft.com/office/drawing/2014/main" id="{227B6066-6BCA-17D2-B59B-FC8BFBAD7730}"/>
              </a:ext>
            </a:extLst>
          </p:cNvPr>
          <p:cNvSpPr txBox="1"/>
          <p:nvPr/>
        </p:nvSpPr>
        <p:spPr>
          <a:xfrm>
            <a:off x="13131997" y="4020623"/>
            <a:ext cx="314276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 dirty="0"/>
          </a:p>
        </p:txBody>
      </p:sp>
      <p:sp>
        <p:nvSpPr>
          <p:cNvPr id="16" name="Google Shape;163;p4">
            <a:extLst>
              <a:ext uri="{FF2B5EF4-FFF2-40B4-BE49-F238E27FC236}">
                <a16:creationId xmlns:a16="http://schemas.microsoft.com/office/drawing/2014/main" id="{20546B1F-AAFD-D10D-B3F6-48032AFE1B28}"/>
              </a:ext>
            </a:extLst>
          </p:cNvPr>
          <p:cNvSpPr txBox="1"/>
          <p:nvPr/>
        </p:nvSpPr>
        <p:spPr>
          <a:xfrm>
            <a:off x="7858074" y="7017304"/>
            <a:ext cx="4748625" cy="88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7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Supplier &amp; Purchase Management</a:t>
            </a:r>
            <a:endParaRPr dirty="0"/>
          </a:p>
        </p:txBody>
      </p:sp>
      <p:grpSp>
        <p:nvGrpSpPr>
          <p:cNvPr id="17" name="Google Shape;165;p4">
            <a:extLst>
              <a:ext uri="{FF2B5EF4-FFF2-40B4-BE49-F238E27FC236}">
                <a16:creationId xmlns:a16="http://schemas.microsoft.com/office/drawing/2014/main" id="{1E06C212-1EB2-D496-0383-28BD3EA3520C}"/>
              </a:ext>
            </a:extLst>
          </p:cNvPr>
          <p:cNvGrpSpPr/>
          <p:nvPr/>
        </p:nvGrpSpPr>
        <p:grpSpPr>
          <a:xfrm>
            <a:off x="12872519" y="6971889"/>
            <a:ext cx="5987708" cy="1437438"/>
            <a:chOff x="347967" y="-86473"/>
            <a:chExt cx="7983610" cy="1916583"/>
          </a:xfrm>
        </p:grpSpPr>
        <p:sp>
          <p:nvSpPr>
            <p:cNvPr id="18" name="Google Shape;166;p4">
              <a:extLst>
                <a:ext uri="{FF2B5EF4-FFF2-40B4-BE49-F238E27FC236}">
                  <a16:creationId xmlns:a16="http://schemas.microsoft.com/office/drawing/2014/main" id="{56302CA2-94E8-26CA-C806-AB10679E6492}"/>
                </a:ext>
              </a:extLst>
            </p:cNvPr>
            <p:cNvSpPr txBox="1"/>
            <p:nvPr/>
          </p:nvSpPr>
          <p:spPr>
            <a:xfrm>
              <a:off x="347978" y="-86473"/>
              <a:ext cx="7983599" cy="587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Role-Based Access</a:t>
              </a:r>
              <a:endParaRPr dirty="0"/>
            </a:p>
          </p:txBody>
        </p:sp>
        <p:sp>
          <p:nvSpPr>
            <p:cNvPr id="19" name="Google Shape;167;p4">
              <a:extLst>
                <a:ext uri="{FF2B5EF4-FFF2-40B4-BE49-F238E27FC236}">
                  <a16:creationId xmlns:a16="http://schemas.microsoft.com/office/drawing/2014/main" id="{053EDBF3-E9BA-E7C8-B37E-EC4B5DB28C05}"/>
                </a:ext>
              </a:extLst>
            </p:cNvPr>
            <p:cNvSpPr txBox="1"/>
            <p:nvPr/>
          </p:nvSpPr>
          <p:spPr>
            <a:xfrm>
              <a:off x="347967" y="727073"/>
              <a:ext cx="6331499" cy="11030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dirty="0">
                  <a:solidFill>
                    <a:srgbClr val="B0AFD3"/>
                  </a:solidFill>
                </a:rPr>
                <a:t>Different users require different levels of access to system functionalities.</a:t>
              </a:r>
              <a:endParaRPr dirty="0"/>
            </a:p>
          </p:txBody>
        </p:sp>
      </p:grpSp>
      <p:sp>
        <p:nvSpPr>
          <p:cNvPr id="22" name="Google Shape;167;p4">
            <a:extLst>
              <a:ext uri="{FF2B5EF4-FFF2-40B4-BE49-F238E27FC236}">
                <a16:creationId xmlns:a16="http://schemas.microsoft.com/office/drawing/2014/main" id="{E00C1211-B378-0ED9-07AE-B2B865CE1728}"/>
              </a:ext>
            </a:extLst>
          </p:cNvPr>
          <p:cNvSpPr txBox="1"/>
          <p:nvPr/>
        </p:nvSpPr>
        <p:spPr>
          <a:xfrm>
            <a:off x="7858073" y="7995688"/>
            <a:ext cx="4748625" cy="827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0" dirty="0">
                <a:solidFill>
                  <a:srgbClr val="B0AFD3"/>
                </a:solidFill>
              </a:rPr>
              <a:t>Difficult in managing suppliers, purchases and medicine replacement.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5208237" y="9166581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5"/>
          <p:cNvSpPr txBox="1"/>
          <p:nvPr/>
        </p:nvSpPr>
        <p:spPr>
          <a:xfrm>
            <a:off x="3009736" y="651838"/>
            <a:ext cx="16339050" cy="6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4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System Architecture Overview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67730-5C20-DDC2-E49E-E033B9B8C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15" y="1678897"/>
            <a:ext cx="15338323" cy="81983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9B5A6B25-4432-3A65-5EF0-63498CA4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>
            <a:extLst>
              <a:ext uri="{FF2B5EF4-FFF2-40B4-BE49-F238E27FC236}">
                <a16:creationId xmlns:a16="http://schemas.microsoft.com/office/drawing/2014/main" id="{B5A17188-7662-F104-8A35-D5C38C4669F7}"/>
              </a:ext>
            </a:extLst>
          </p:cNvPr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>
              <a:extLst>
                <a:ext uri="{FF2B5EF4-FFF2-40B4-BE49-F238E27FC236}">
                  <a16:creationId xmlns:a16="http://schemas.microsoft.com/office/drawing/2014/main" id="{008E24E0-469C-9DAE-DD3B-92D2852BC5A7}"/>
                </a:ext>
              </a:extLst>
            </p:cNvPr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>
              <a:extLst>
                <a:ext uri="{FF2B5EF4-FFF2-40B4-BE49-F238E27FC236}">
                  <a16:creationId xmlns:a16="http://schemas.microsoft.com/office/drawing/2014/main" id="{D873992A-B61A-A969-2FE9-209B95C10F28}"/>
                </a:ext>
              </a:extLst>
            </p:cNvPr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>
            <a:extLst>
              <a:ext uri="{FF2B5EF4-FFF2-40B4-BE49-F238E27FC236}">
                <a16:creationId xmlns:a16="http://schemas.microsoft.com/office/drawing/2014/main" id="{3CDF213D-B2D6-11D9-CDE9-50667A68851B}"/>
              </a:ext>
            </a:extLst>
          </p:cNvPr>
          <p:cNvGrpSpPr/>
          <p:nvPr/>
        </p:nvGrpSpPr>
        <p:grpSpPr>
          <a:xfrm rot="8100000">
            <a:off x="15208237" y="9166581"/>
            <a:ext cx="3353610" cy="1421336"/>
            <a:chOff x="0" y="-38100"/>
            <a:chExt cx="882773" cy="374139"/>
          </a:xfrm>
        </p:grpSpPr>
        <p:sp>
          <p:nvSpPr>
            <p:cNvPr id="187" name="Google Shape;187;p5">
              <a:extLst>
                <a:ext uri="{FF2B5EF4-FFF2-40B4-BE49-F238E27FC236}">
                  <a16:creationId xmlns:a16="http://schemas.microsoft.com/office/drawing/2014/main" id="{D4565005-85D1-7CB3-6979-5B9A99C10D4F}"/>
                </a:ext>
              </a:extLst>
            </p:cNvPr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>
              <a:extLst>
                <a:ext uri="{FF2B5EF4-FFF2-40B4-BE49-F238E27FC236}">
                  <a16:creationId xmlns:a16="http://schemas.microsoft.com/office/drawing/2014/main" id="{BB86F69B-15B3-13F3-39E3-FA0030D2F06F}"/>
                </a:ext>
              </a:extLst>
            </p:cNvPr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5">
            <a:extLst>
              <a:ext uri="{FF2B5EF4-FFF2-40B4-BE49-F238E27FC236}">
                <a16:creationId xmlns:a16="http://schemas.microsoft.com/office/drawing/2014/main" id="{F8F75F0C-AD70-878C-9654-F2EAEE00B0AF}"/>
              </a:ext>
            </a:extLst>
          </p:cNvPr>
          <p:cNvSpPr txBox="1"/>
          <p:nvPr/>
        </p:nvSpPr>
        <p:spPr>
          <a:xfrm>
            <a:off x="7236962" y="449720"/>
            <a:ext cx="16339050" cy="81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4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Work Flow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FCF1F-9FA4-2E1A-0A35-EA591AFA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673" y="1326649"/>
            <a:ext cx="14330596" cy="852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1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225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and Solutions </a:t>
            </a:r>
            <a:r>
              <a:rPr lang="en-US" sz="4875" b="1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</a:t>
            </a:r>
            <a:r>
              <a:rPr lang="en-US" sz="4875" b="1" dirty="0" err="1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MediStock</a:t>
            </a:r>
            <a:endParaRPr dirty="0"/>
          </a:p>
        </p:txBody>
      </p:sp>
      <p:grpSp>
        <p:nvGrpSpPr>
          <p:cNvPr id="197" name="Google Shape;197;p6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2872519" y="2456180"/>
            <a:ext cx="4748731" cy="2252616"/>
            <a:chOff x="0" y="0"/>
            <a:chExt cx="6331641" cy="3003489"/>
          </a:xfrm>
        </p:grpSpPr>
        <p:sp>
          <p:nvSpPr>
            <p:cNvPr id="210" name="Google Shape;210;p6"/>
            <p:cNvSpPr txBox="1"/>
            <p:nvPr/>
          </p:nvSpPr>
          <p:spPr>
            <a:xfrm>
              <a:off x="0" y="0"/>
              <a:ext cx="6331641" cy="664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Out-of-Stock Situations</a:t>
              </a:r>
              <a:endParaRPr dirty="0"/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0" y="790575"/>
              <a:ext cx="6331641" cy="22129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dirty="0">
                  <a:solidFill>
                    <a:srgbClr val="B0AFD3"/>
                  </a:solidFill>
                </a:rPr>
                <a:t>Continuously monitor medicine stock levels</a:t>
              </a:r>
              <a:r>
                <a:rPr lang="en-US" sz="1926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. Compare available stock with minimum stock thresholds. Alert staff when medicines are low or out of stock.</a:t>
              </a:r>
              <a:endParaRPr dirty="0"/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7858125" y="2474330"/>
            <a:ext cx="4748731" cy="2667538"/>
            <a:chOff x="0" y="0"/>
            <a:chExt cx="6331641" cy="3556715"/>
          </a:xfrm>
        </p:grpSpPr>
        <p:sp>
          <p:nvSpPr>
            <p:cNvPr id="213" name="Google Shape;213;p6"/>
            <p:cNvSpPr txBox="1"/>
            <p:nvPr/>
          </p:nvSpPr>
          <p:spPr>
            <a:xfrm>
              <a:off x="0" y="0"/>
              <a:ext cx="6331641" cy="1329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Manual Inventory Management</a:t>
              </a:r>
              <a:endParaRPr dirty="0"/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0" y="790574"/>
              <a:ext cx="6331641" cy="27661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926" dirty="0">
                <a:solidFill>
                  <a:srgbClr val="B0AFD3"/>
                </a:solidFill>
              </a:endParaRPr>
            </a:p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dirty="0">
                  <a:solidFill>
                    <a:srgbClr val="B0AFD3"/>
                  </a:solidFill>
                </a:rPr>
                <a:t>Automate inventory records and stock updates. Reduce manual work and data-entry errors. Maintain accurate and up-to-date stock information. </a:t>
              </a:r>
              <a:endParaRPr dirty="0"/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7812734" y="6932930"/>
            <a:ext cx="4794123" cy="2252616"/>
            <a:chOff x="-60977" y="0"/>
            <a:chExt cx="6392162" cy="3003490"/>
          </a:xfrm>
        </p:grpSpPr>
        <p:sp>
          <p:nvSpPr>
            <p:cNvPr id="216" name="Google Shape;216;p6"/>
            <p:cNvSpPr txBox="1"/>
            <p:nvPr/>
          </p:nvSpPr>
          <p:spPr>
            <a:xfrm>
              <a:off x="-60977" y="0"/>
              <a:ext cx="6392162" cy="664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Delayed Notifications</a:t>
              </a:r>
              <a:endParaRPr dirty="0"/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-456" y="790575"/>
              <a:ext cx="6331639" cy="2212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dirty="0">
                  <a:solidFill>
                    <a:srgbClr val="B0AFD3"/>
                  </a:solidFill>
                </a:rPr>
                <a:t>Staff may not receive timely information about low-stock medicines</a:t>
              </a:r>
              <a:r>
                <a:rPr lang="en-US" sz="1926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. Notify staff about near-expiry and expired medicines.</a:t>
              </a:r>
            </a:p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dirty="0">
                  <a:solidFill>
                    <a:srgbClr val="B0AFD3"/>
                  </a:solidFill>
                </a:rPr>
                <a:t>Enable timely action and restocking.</a:t>
              </a:r>
              <a:endParaRPr dirty="0"/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12872519" y="6932930"/>
            <a:ext cx="4748731" cy="2252616"/>
            <a:chOff x="0" y="0"/>
            <a:chExt cx="6331641" cy="3003489"/>
          </a:xfrm>
        </p:grpSpPr>
        <p:sp>
          <p:nvSpPr>
            <p:cNvPr id="219" name="Google Shape;219;p6"/>
            <p:cNvSpPr txBox="1"/>
            <p:nvPr/>
          </p:nvSpPr>
          <p:spPr>
            <a:xfrm>
              <a:off x="0" y="0"/>
              <a:ext cx="6331641" cy="664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Difficult Decision Making</a:t>
              </a:r>
              <a:endParaRPr dirty="0"/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0" y="790575"/>
              <a:ext cx="6331641" cy="22129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dirty="0">
                  <a:solidFill>
                    <a:srgbClr val="B0AFD3"/>
                  </a:solidFill>
                </a:rPr>
                <a:t>Provide real-time inventory information in one place. Display stock, expiry, and inventory trends clearly. Support faster and data-driven decisions.</a:t>
              </a:r>
              <a:endParaRPr dirty="0"/>
            </a:p>
          </p:txBody>
        </p:sp>
      </p:grp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3193389" y="6038850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227209" y="156210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3197159" y="1562100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182611" y="6038850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>
            <a:off x="12892088" y="7359447"/>
            <a:ext cx="4010025" cy="2377590"/>
            <a:chOff x="0" y="-9525"/>
            <a:chExt cx="5346700" cy="3170118"/>
          </a:xfrm>
        </p:grpSpPr>
        <p:sp>
          <p:nvSpPr>
            <p:cNvPr id="237" name="Google Shape;237;p7"/>
            <p:cNvSpPr txBox="1"/>
            <p:nvPr/>
          </p:nvSpPr>
          <p:spPr>
            <a:xfrm>
              <a:off x="0" y="-9525"/>
              <a:ext cx="5346700" cy="10517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Enhanced </a:t>
              </a:r>
              <a:r>
                <a:rPr lang="en-US" sz="2136" b="1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Inventory Management</a:t>
              </a:r>
              <a:endParaRPr dirty="0"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666749"/>
              <a:ext cx="5346700" cy="24938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026" dirty="0">
                <a:solidFill>
                  <a:srgbClr val="B0AFD3"/>
                </a:solidFill>
              </a:endParaRPr>
            </a:p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26" dirty="0">
                  <a:solidFill>
                    <a:srgbClr val="B0AFD3"/>
                  </a:solidFill>
                </a:rPr>
                <a:t>Real-timer monitoring provides better visibility of stock levels. Low-stock and out-of-stock alerts support timely restocking.</a:t>
              </a:r>
              <a:endParaRPr dirty="0"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138988" y="7354100"/>
            <a:ext cx="4587764" cy="2377580"/>
            <a:chOff x="0" y="-9511"/>
            <a:chExt cx="6117018" cy="3170110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19" y="-9511"/>
              <a:ext cx="6116999" cy="525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Reduced </a:t>
              </a:r>
              <a:r>
                <a:rPr lang="en-US" sz="2136" b="1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Expiry-Related Wastage</a:t>
              </a:r>
              <a:endParaRPr dirty="0"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0" y="666751"/>
              <a:ext cx="5346699" cy="24938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26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Automated expiry tracking identifies medicines nearing expiration. Timely alerts help staff take action before medicines expire.</a:t>
              </a:r>
              <a:endParaRPr dirty="0"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1538288" y="7359447"/>
            <a:ext cx="4010025" cy="2003513"/>
            <a:chOff x="0" y="-9525"/>
            <a:chExt cx="5346700" cy="2671349"/>
          </a:xfrm>
        </p:grpSpPr>
        <p:sp>
          <p:nvSpPr>
            <p:cNvPr id="243" name="Google Shape;243;p7"/>
            <p:cNvSpPr txBox="1"/>
            <p:nvPr/>
          </p:nvSpPr>
          <p:spPr>
            <a:xfrm>
              <a:off x="0" y="-9525"/>
              <a:ext cx="5346700" cy="525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Improved Inventory Accuracy</a:t>
              </a:r>
              <a:endParaRPr dirty="0"/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666749"/>
              <a:ext cx="5346700" cy="1995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26" dirty="0">
                  <a:solidFill>
                    <a:srgbClr val="B0AFD3"/>
                  </a:solidFill>
                </a:rPr>
                <a:t>Automated stock updates help maintain accurate inventory records. Reduces manual errors and stock discrepancies.</a:t>
              </a:r>
              <a:endParaRPr dirty="0"/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Measurable Outcomes and Positive Impact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88752-9F07-16B9-B6E2-4FAE88298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25" y="3352801"/>
            <a:ext cx="4587750" cy="3581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365BD6-D0DC-83D9-8658-F3970B401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266" y="3352799"/>
            <a:ext cx="4896464" cy="3581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47DD86-D9D4-E0BE-21EC-77246AB22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9821" y="3352798"/>
            <a:ext cx="4896463" cy="35813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8A2D393B-5552-BF52-D07F-8BBC21F9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860EC4-9407-403A-97A7-295E56C28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18" y="1573967"/>
            <a:ext cx="14885233" cy="4288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72400D-394D-CE58-40E8-0FB5DB514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918" y="5862624"/>
            <a:ext cx="14885233" cy="36111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4BB240-DFFF-F25C-AD9D-4D0311176CA7}"/>
              </a:ext>
            </a:extLst>
          </p:cNvPr>
          <p:cNvSpPr txBox="1"/>
          <p:nvPr/>
        </p:nvSpPr>
        <p:spPr>
          <a:xfrm>
            <a:off x="1312606" y="34580"/>
            <a:ext cx="18568220" cy="1169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999" b="1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U</a:t>
            </a: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ser Interface &amp; System Features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6809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ECBCCE84-7B36-6146-4969-5C81ECC9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EF04B1-D1C4-7D09-4436-5833AA73F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6" y="792446"/>
            <a:ext cx="8908026" cy="4915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BB2171-48F6-97E0-8835-315C57A5B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548" y="4188542"/>
            <a:ext cx="8219246" cy="5246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97A465-3AC5-345D-3347-99023A672B93}"/>
              </a:ext>
            </a:extLst>
          </p:cNvPr>
          <p:cNvSpPr txBox="1"/>
          <p:nvPr/>
        </p:nvSpPr>
        <p:spPr>
          <a:xfrm>
            <a:off x="3495368" y="6177730"/>
            <a:ext cx="3583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Login 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0F33D-B5F8-A16B-F176-8880ABE91E23}"/>
              </a:ext>
            </a:extLst>
          </p:cNvPr>
          <p:cNvSpPr txBox="1"/>
          <p:nvPr/>
        </p:nvSpPr>
        <p:spPr>
          <a:xfrm>
            <a:off x="12270657" y="9630696"/>
            <a:ext cx="4763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2471813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D3C1B4-2E15-15BA-603E-E667AB7B0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275" y="442455"/>
            <a:ext cx="13966725" cy="43212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5ED3E0-9C0A-80E1-39E3-72A0E22E0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275" y="5385954"/>
            <a:ext cx="13966725" cy="41839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F0E6130E-0828-3448-E473-2720D492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A0987A-282B-69C9-75AF-AED13A8AA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674" y="433285"/>
            <a:ext cx="14524795" cy="4315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B42CF6-E62E-76A6-8567-2E290C715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675" y="5331541"/>
            <a:ext cx="14524794" cy="45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00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0A72DBA5-8778-EC7A-02D6-136CA7A5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F9E56B-77F5-3F42-6AA2-18962B85A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343" y="5674443"/>
            <a:ext cx="14745036" cy="39764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379707-7592-2605-1D2E-C59892FBD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342" y="482719"/>
            <a:ext cx="14745037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55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614E0B8B-00D7-A623-9732-EBA572A3A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DD6E8A-FC91-C959-5846-6FB8A9AD6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463" y="499448"/>
            <a:ext cx="14499073" cy="4397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B2BD9A-6EC0-D6A6-7853-4F048560B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463" y="5735127"/>
            <a:ext cx="14499073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60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/>
        </p:nvSpPr>
        <p:spPr>
          <a:xfrm>
            <a:off x="9296400" y="800100"/>
            <a:ext cx="8305800" cy="3231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Medical Inventory Management</a:t>
            </a: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Process</a:t>
            </a:r>
            <a:endParaRPr dirty="0"/>
          </a:p>
        </p:txBody>
      </p:sp>
      <p:grpSp>
        <p:nvGrpSpPr>
          <p:cNvPr id="263" name="Google Shape;263;p8"/>
          <p:cNvGrpSpPr/>
          <p:nvPr/>
        </p:nvGrpSpPr>
        <p:grpSpPr>
          <a:xfrm>
            <a:off x="9296400" y="3917156"/>
            <a:ext cx="6453900" cy="1802469"/>
            <a:chOff x="0" y="-9525"/>
            <a:chExt cx="8605200" cy="2403290"/>
          </a:xfrm>
        </p:grpSpPr>
        <p:sp>
          <p:nvSpPr>
            <p:cNvPr id="264" name="Google Shape;264;p8"/>
            <p:cNvSpPr txBox="1"/>
            <p:nvPr/>
          </p:nvSpPr>
          <p:spPr>
            <a:xfrm>
              <a:off x="0" y="-9525"/>
              <a:ext cx="8348289" cy="623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33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Simple </a:t>
              </a:r>
              <a:r>
                <a:rPr lang="en-US" sz="2533" b="1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Medicine</a:t>
              </a:r>
              <a:r>
                <a:rPr lang="en-US" sz="2533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Onboarding Steps</a:t>
              </a:r>
              <a:endParaRPr dirty="0"/>
            </a:p>
          </p:txBody>
        </p:sp>
        <p:sp>
          <p:nvSpPr>
            <p:cNvPr id="265" name="Google Shape;265;p8"/>
            <p:cNvSpPr txBox="1"/>
            <p:nvPr/>
          </p:nvSpPr>
          <p:spPr>
            <a:xfrm>
              <a:off x="0" y="620973"/>
              <a:ext cx="8605200" cy="1772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The registration process is designed to be straightforward and efficient, allowing staff to easily add medicine, stock and expiry details..</a:t>
              </a:r>
              <a:endParaRPr dirty="0"/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9296400" y="5707856"/>
            <a:ext cx="5448300" cy="1802470"/>
            <a:chOff x="0" y="-9525"/>
            <a:chExt cx="7264400" cy="2403293"/>
          </a:xfrm>
        </p:grpSpPr>
        <p:sp>
          <p:nvSpPr>
            <p:cNvPr id="267" name="Google Shape;267;p8"/>
            <p:cNvSpPr txBox="1"/>
            <p:nvPr/>
          </p:nvSpPr>
          <p:spPr>
            <a:xfrm>
              <a:off x="0" y="-9525"/>
              <a:ext cx="7264400" cy="51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33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Secure Authentication Features</a:t>
              </a:r>
              <a:endParaRPr/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0" y="620975"/>
              <a:ext cx="7264400" cy="1772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rgbClr val="B0AFD3"/>
                  </a:solidFill>
                </a:rPr>
                <a:t>JWT authentication and role-</a:t>
              </a:r>
              <a:r>
                <a:rPr lang="en-US" sz="2400" dirty="0" err="1">
                  <a:solidFill>
                    <a:srgbClr val="B0AFD3"/>
                  </a:solidFill>
                </a:rPr>
                <a:t>beased</a:t>
              </a:r>
              <a:r>
                <a:rPr lang="en-US" sz="2400" dirty="0">
                  <a:solidFill>
                    <a:srgbClr val="B0AFD3"/>
                  </a:solidFill>
                </a:rPr>
                <a:t> access help protect inventory data and prevent unauthorized access.</a:t>
              </a:r>
              <a:endParaRPr dirty="0"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9296400" y="7498550"/>
            <a:ext cx="6453900" cy="2245673"/>
            <a:chOff x="0" y="-9533"/>
            <a:chExt cx="8605200" cy="2994229"/>
          </a:xfrm>
        </p:grpSpPr>
        <p:sp>
          <p:nvSpPr>
            <p:cNvPr id="270" name="Google Shape;270;p8"/>
            <p:cNvSpPr txBox="1"/>
            <p:nvPr/>
          </p:nvSpPr>
          <p:spPr>
            <a:xfrm>
              <a:off x="0" y="-9533"/>
              <a:ext cx="8605200" cy="51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33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Comprehensive Dashboard Access</a:t>
              </a:r>
              <a:endParaRPr/>
            </a:p>
          </p:txBody>
        </p:sp>
        <p:sp>
          <p:nvSpPr>
            <p:cNvPr id="271" name="Google Shape;271;p8"/>
            <p:cNvSpPr txBox="1"/>
            <p:nvPr/>
          </p:nvSpPr>
          <p:spPr>
            <a:xfrm>
              <a:off x="0" y="620973"/>
              <a:ext cx="7264400" cy="2363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Once </a:t>
              </a:r>
              <a:r>
                <a:rPr lang="en-US" sz="2400" dirty="0">
                  <a:solidFill>
                    <a:srgbClr val="B0AFD3"/>
                  </a:solidFill>
                </a:rPr>
                <a:t>logged in, staff can access the </a:t>
              </a:r>
              <a:r>
                <a:rPr lang="en-US" sz="2400" dirty="0" err="1">
                  <a:solidFill>
                    <a:srgbClr val="B0AFD3"/>
                  </a:solidFill>
                </a:rPr>
                <a:t>Medistock</a:t>
              </a:r>
              <a:r>
                <a:rPr lang="en-US" sz="2400" dirty="0">
                  <a:solidFill>
                    <a:srgbClr val="B0AFD3"/>
                  </a:solidFill>
                </a:rPr>
                <a:t> dashboard to monitor stock levels, expiry status, alerts, analytics, and reports.</a:t>
              </a:r>
              <a:endParaRPr dirty="0"/>
            </a:p>
          </p:txBody>
        </p:sp>
      </p:grpSp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5894EBD-795A-E02B-5FF3-070893711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991601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0"/>
          <p:cNvGrpSpPr/>
          <p:nvPr/>
        </p:nvGrpSpPr>
        <p:grpSpPr>
          <a:xfrm>
            <a:off x="12892088" y="7291791"/>
            <a:ext cx="4009950" cy="2324632"/>
            <a:chOff x="0" y="-239433"/>
            <a:chExt cx="5346600" cy="3099511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0" y="-239433"/>
              <a:ext cx="5346600" cy="366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Digital Audit Trail &amp; Activity History</a:t>
              </a:r>
              <a:endParaRPr dirty="0"/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0" y="292109"/>
              <a:ext cx="5346600" cy="2567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dirty="0">
                  <a:solidFill>
                    <a:srgbClr val="B0AFD3"/>
                  </a:solidFill>
                </a:rPr>
                <a:t>Record and track important user activities.</a:t>
              </a:r>
              <a:endParaRPr lang="en-US" dirty="0"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dirty="0">
                  <a:solidFill>
                    <a:srgbClr val="B0AFD3"/>
                  </a:solidFill>
                </a:rPr>
                <a:t>Focus on security , accountability , store date and time.</a:t>
              </a:r>
              <a:endParaRPr dirty="0"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Help identify incorrect or </a:t>
              </a:r>
              <a:r>
                <a:rPr lang="en-US" sz="1490" dirty="0">
                  <a:solidFill>
                    <a:srgbClr val="B0AFD3"/>
                  </a:solidFill>
                </a:rPr>
                <a:t>unauthorized inventory changes.</a:t>
              </a: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7138988" y="7291796"/>
            <a:ext cx="4009950" cy="2304970"/>
            <a:chOff x="0" y="-232283"/>
            <a:chExt cx="5346600" cy="3073293"/>
          </a:xfrm>
        </p:grpSpPr>
        <p:sp>
          <p:nvSpPr>
            <p:cNvPr id="288" name="Google Shape;288;p10"/>
            <p:cNvSpPr txBox="1"/>
            <p:nvPr/>
          </p:nvSpPr>
          <p:spPr>
            <a:xfrm>
              <a:off x="0" y="-232283"/>
              <a:ext cx="5346600" cy="366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Predict Inventory Analytics</a:t>
              </a:r>
              <a:endParaRPr dirty="0"/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0" y="273042"/>
              <a:ext cx="5346600" cy="2567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dirty="0">
                  <a:solidFill>
                    <a:srgbClr val="B0AFD3"/>
                  </a:solidFill>
                </a:rPr>
                <a:t>Forecast medicine demand and consumption patterns.</a:t>
              </a:r>
              <a:endParaRPr dirty="0"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dirty="0">
                  <a:solidFill>
                    <a:srgbClr val="B0AFD3"/>
                  </a:solidFill>
                </a:rPr>
                <a:t>Suggest optimal stock levels and reorder quantities.</a:t>
              </a:r>
              <a:endParaRPr dirty="0"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dirty="0">
                  <a:solidFill>
                    <a:srgbClr val="B0AFD3"/>
                  </a:solidFill>
                </a:rPr>
                <a:t>Reduce shortages and excess inventory.</a:t>
              </a:r>
              <a:endParaRPr dirty="0"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059225" y="7289375"/>
            <a:ext cx="5055827" cy="2307410"/>
            <a:chOff x="-693504" y="49429"/>
            <a:chExt cx="7318800" cy="3076547"/>
          </a:xfrm>
        </p:grpSpPr>
        <p:sp>
          <p:nvSpPr>
            <p:cNvPr id="291" name="Google Shape;291;p10"/>
            <p:cNvSpPr txBox="1"/>
            <p:nvPr/>
          </p:nvSpPr>
          <p:spPr>
            <a:xfrm>
              <a:off x="-693504" y="49429"/>
              <a:ext cx="7318800" cy="366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AI </a:t>
              </a:r>
              <a:r>
                <a:rPr lang="en-US" sz="1490" b="1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–Assisted Management</a:t>
              </a:r>
              <a:endParaRPr dirty="0"/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8523" y="558008"/>
              <a:ext cx="5346600" cy="2567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dirty="0">
                  <a:solidFill>
                    <a:srgbClr val="B0AFD3"/>
                  </a:solidFill>
                </a:rPr>
                <a:t>Predict expiry risks and identify inventory trends.</a:t>
              </a:r>
              <a:endParaRPr dirty="0"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dirty="0">
                  <a:solidFill>
                    <a:srgbClr val="B0AFD3"/>
                  </a:solidFill>
                </a:rPr>
                <a:t>Recommend suitable stock levels for medicines.</a:t>
              </a:r>
              <a:endParaRPr dirty="0"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dirty="0">
                  <a:solidFill>
                    <a:srgbClr val="B0AFD3"/>
                  </a:solidFill>
                </a:rPr>
                <a:t>Support faster and smarter inventory decision.</a:t>
              </a:r>
              <a:endParaRPr dirty="0"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Enhancements for </a:t>
            </a:r>
            <a:r>
              <a:rPr lang="en-US" sz="6999" b="1" i="0" u="none" strike="noStrike" cap="none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Medi</a:t>
            </a:r>
            <a:r>
              <a:rPr lang="en-US" sz="6999" b="1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</a:t>
            </a:r>
            <a:r>
              <a:rPr lang="en-US" sz="6999" b="1" i="0" u="none" strike="noStrike" cap="none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tock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3C6BE-AAF0-2C1C-93EA-4CEA43FD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1" y="2890903"/>
            <a:ext cx="4947114" cy="388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88F9F1-7019-0EE9-7378-FB2B022B9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332" y="2890903"/>
            <a:ext cx="5396391" cy="3886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4F2C65-BC02-8207-FA33-0F29DA670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3264" y="2890903"/>
            <a:ext cx="523904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50" y="1560600"/>
            <a:ext cx="125901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TEAM-2 MEMBERS</a:t>
            </a:r>
            <a:endParaRPr dirty="0"/>
          </a:p>
        </p:txBody>
      </p:sp>
      <p:sp>
        <p:nvSpPr>
          <p:cNvPr id="302" name="Google Shape;302;p11"/>
          <p:cNvSpPr txBox="1"/>
          <p:nvPr/>
        </p:nvSpPr>
        <p:spPr>
          <a:xfrm>
            <a:off x="5886450" y="4152674"/>
            <a:ext cx="6553200" cy="11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dirty="0">
                <a:solidFill>
                  <a:srgbClr val="FFFFFF"/>
                </a:solidFill>
              </a:rPr>
              <a:t>Avdhesh Sahu</a:t>
            </a:r>
            <a:endParaRPr dirty="0"/>
          </a:p>
        </p:txBody>
      </p:sp>
      <p:sp>
        <p:nvSpPr>
          <p:cNvPr id="304" name="Google Shape;304;p11"/>
          <p:cNvSpPr txBox="1"/>
          <p:nvPr/>
        </p:nvSpPr>
        <p:spPr>
          <a:xfrm>
            <a:off x="4667250" y="5510995"/>
            <a:ext cx="9315450" cy="11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dirty="0">
                <a:solidFill>
                  <a:srgbClr val="FFFFFF"/>
                </a:solidFill>
              </a:rPr>
              <a:t>Veekshitha Pudhicheri</a:t>
            </a:r>
            <a:endParaRPr dirty="0"/>
          </a:p>
        </p:txBody>
      </p:sp>
      <p:sp>
        <p:nvSpPr>
          <p:cNvPr id="305" name="Google Shape;305;p11"/>
          <p:cNvSpPr txBox="1"/>
          <p:nvPr/>
        </p:nvSpPr>
        <p:spPr>
          <a:xfrm>
            <a:off x="4457700" y="6871165"/>
            <a:ext cx="10077450" cy="11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dirty="0">
                <a:solidFill>
                  <a:srgbClr val="FFFFFF"/>
                </a:solidFill>
              </a:rPr>
              <a:t>Ajay Rajendra </a:t>
            </a:r>
            <a:r>
              <a:rPr lang="en-US" sz="5199" b="1" dirty="0" err="1">
                <a:solidFill>
                  <a:srgbClr val="FFFFFF"/>
                </a:solidFill>
              </a:rPr>
              <a:t>Sapkale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/>
        </p:nvSpPr>
        <p:spPr>
          <a:xfrm>
            <a:off x="3480181" y="1264697"/>
            <a:ext cx="118443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Video...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3399737" y="3635425"/>
            <a:ext cx="12005187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4600" dirty="0">
                <a:solidFill>
                  <a:srgbClr val="00B0F0"/>
                </a:solidFill>
              </a:rPr>
              <a:t>https://drive.google.com/file/d/1GVKjgovCBcyBQFLASBVszaOE1WSFtE7L/view?usp=sharing</a:t>
            </a:r>
            <a:endParaRPr sz="46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 n 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8" b="0" i="0" u="none" strike="noStrike" cap="non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858" b="0" i="0" u="none" strike="noStrike" cap="non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628</Words>
  <Application>Microsoft Office PowerPoint</Application>
  <PresentationFormat>Custom</PresentationFormat>
  <Paragraphs>97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Bricolage Grotesque</vt:lpstr>
      <vt:lpstr>Bricolage Grotesque SemiBold</vt:lpstr>
      <vt:lpstr>Arial</vt:lpstr>
      <vt:lpstr>Times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pudhicheri veekshitha</dc:creator>
  <cp:lastModifiedBy>Ajay Sapkale</cp:lastModifiedBy>
  <cp:revision>10</cp:revision>
  <dcterms:created xsi:type="dcterms:W3CDTF">2006-08-16T00:00:00Z</dcterms:created>
  <dcterms:modified xsi:type="dcterms:W3CDTF">2026-09-18T13:45:36Z</dcterms:modified>
</cp:coreProperties>
</file>